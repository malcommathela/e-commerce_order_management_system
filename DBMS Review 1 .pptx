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58" r:id="rId1"/>
  </p:sldMasterIdLst>
  <p:notesMasterIdLst>
    <p:notesMasterId r:id="rId12"/>
  </p:notesMasterIdLst>
  <p:sldIdLst>
    <p:sldId id="297" r:id="rId2"/>
    <p:sldId id="258" r:id="rId3"/>
    <p:sldId id="259" r:id="rId4"/>
    <p:sldId id="264" r:id="rId5"/>
    <p:sldId id="271" r:id="rId6"/>
    <p:sldId id="266" r:id="rId7"/>
    <p:sldId id="274" r:id="rId8"/>
    <p:sldId id="301" r:id="rId9"/>
    <p:sldId id="302" r:id="rId10"/>
    <p:sldId id="300" r:id="rId11"/>
  </p:sldIdLst>
  <p:sldSz cx="14630400" cy="8229600"/>
  <p:notesSz cx="8229600" cy="14630400"/>
  <p:embeddedFontLst>
    <p:embeddedFont>
      <p:font typeface="Lora" pitchFamily="2" charset="0"/>
      <p:regular r:id="rId13"/>
      <p:bold r:id="rId14"/>
      <p:italic r:id="rId15"/>
      <p:boldItalic r:id="rId16"/>
    </p:embeddedFont>
    <p:embeddedFont>
      <p:font typeface="Segoe UI" panose="020B0502040204020203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2">
          <p15:clr>
            <a:srgbClr val="A4A3A4"/>
          </p15:clr>
        </p15:guide>
        <p15:guide id="2" pos="460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065C2E-DECB-EE51-9793-3414CEC7E276}" v="3257" dt="2026-08-05T09:51:48.1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2556513"/>
            <a:ext cx="12435840" cy="17640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94560" y="4663440"/>
            <a:ext cx="10241280" cy="21031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530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06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591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121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65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18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571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243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             B.HEME NAGAMANI, ASST.PROFESSOR, IT&amp;DS DEPT.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395E6-B557-457B-A658-B1954780A9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             B.HEME NAGAMANI, ASST.PROFESSOR, IT&amp;DS DEPT.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395E6-B557-457B-A658-B1954780A9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5701" y="5288283"/>
            <a:ext cx="12435840" cy="1634490"/>
          </a:xfrm>
        </p:spPr>
        <p:txBody>
          <a:bodyPr anchor="t"/>
          <a:lstStyle>
            <a:lvl1pPr algn="l">
              <a:defRPr sz="57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5701" y="3488056"/>
            <a:ext cx="12435840" cy="1800224"/>
          </a:xfrm>
        </p:spPr>
        <p:txBody>
          <a:bodyPr anchor="b"/>
          <a:lstStyle>
            <a:lvl1pPr marL="0" indent="0">
              <a:buNone/>
              <a:defRPr sz="2900">
                <a:solidFill>
                  <a:schemeClr val="tx1">
                    <a:tint val="75000"/>
                  </a:schemeClr>
                </a:solidFill>
              </a:defRPr>
            </a:lvl1pPr>
            <a:lvl2pPr marL="653044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0609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3pPr>
            <a:lvl4pPr marL="1959135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marL="261218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marL="3265225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marL="391827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marL="457131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marL="522435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             B.HEME NAGAMANI, ASST.PROFESSOR, IT&amp;DS DEPT.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395E6-B557-457B-A658-B1954780A9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0941" y="2305050"/>
            <a:ext cx="10411459" cy="6517006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26244" y="2305050"/>
            <a:ext cx="10411461" cy="6517006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             B.HEME NAGAMANI, ASST.PROFESSOR, IT&amp;DS DEPT.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395E6-B557-457B-A658-B1954780A9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329566"/>
            <a:ext cx="13167360" cy="1371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1842136"/>
            <a:ext cx="6464301" cy="767714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3044" indent="0">
              <a:buNone/>
              <a:defRPr sz="2900" b="1"/>
            </a:lvl2pPr>
            <a:lvl3pPr marL="1306090" indent="0">
              <a:buNone/>
              <a:defRPr sz="2600" b="1"/>
            </a:lvl3pPr>
            <a:lvl4pPr marL="1959135" indent="0">
              <a:buNone/>
              <a:defRPr sz="2300" b="1"/>
            </a:lvl4pPr>
            <a:lvl5pPr marL="2612181" indent="0">
              <a:buNone/>
              <a:defRPr sz="2300" b="1"/>
            </a:lvl5pPr>
            <a:lvl6pPr marL="3265225" indent="0">
              <a:buNone/>
              <a:defRPr sz="2300" b="1"/>
            </a:lvl6pPr>
            <a:lvl7pPr marL="3918270" indent="0">
              <a:buNone/>
              <a:defRPr sz="2300" b="1"/>
            </a:lvl7pPr>
            <a:lvl8pPr marL="4571314" indent="0">
              <a:buNone/>
              <a:defRPr sz="2300" b="1"/>
            </a:lvl8pPr>
            <a:lvl9pPr marL="5224359" indent="0">
              <a:buNone/>
              <a:defRPr sz="2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0" y="2609850"/>
            <a:ext cx="6464301" cy="4741546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32042" y="1842136"/>
            <a:ext cx="6466840" cy="767714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3044" indent="0">
              <a:buNone/>
              <a:defRPr sz="2900" b="1"/>
            </a:lvl2pPr>
            <a:lvl3pPr marL="1306090" indent="0">
              <a:buNone/>
              <a:defRPr sz="2600" b="1"/>
            </a:lvl3pPr>
            <a:lvl4pPr marL="1959135" indent="0">
              <a:buNone/>
              <a:defRPr sz="2300" b="1"/>
            </a:lvl4pPr>
            <a:lvl5pPr marL="2612181" indent="0">
              <a:buNone/>
              <a:defRPr sz="2300" b="1"/>
            </a:lvl5pPr>
            <a:lvl6pPr marL="3265225" indent="0">
              <a:buNone/>
              <a:defRPr sz="2300" b="1"/>
            </a:lvl6pPr>
            <a:lvl7pPr marL="3918270" indent="0">
              <a:buNone/>
              <a:defRPr sz="2300" b="1"/>
            </a:lvl7pPr>
            <a:lvl8pPr marL="4571314" indent="0">
              <a:buNone/>
              <a:defRPr sz="2300" b="1"/>
            </a:lvl8pPr>
            <a:lvl9pPr marL="5224359" indent="0">
              <a:buNone/>
              <a:defRPr sz="2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32042" y="2609850"/>
            <a:ext cx="6466840" cy="4741546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             B.HEME NAGAMANI, ASST.PROFESSOR, IT&amp;DS DEPT.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395E6-B557-457B-A658-B1954780A9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             B.HEME NAGAMANI, ASST.PROFESSOR, IT&amp;DS DEPT.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395E6-B557-457B-A658-B1954780A9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             B.HEME NAGAMANI, ASST.PROFESSOR, IT&amp;DS DEPT.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395E6-B557-457B-A658-B1954780A9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4" y="327660"/>
            <a:ext cx="4813301" cy="1394460"/>
          </a:xfrm>
        </p:spPr>
        <p:txBody>
          <a:bodyPr anchor="b"/>
          <a:lstStyle>
            <a:lvl1pPr algn="l">
              <a:defRPr sz="2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0080" y="327660"/>
            <a:ext cx="8178800" cy="7023736"/>
          </a:xfrm>
        </p:spPr>
        <p:txBody>
          <a:bodyPr/>
          <a:lstStyle>
            <a:lvl1pPr>
              <a:defRPr sz="4600"/>
            </a:lvl1pPr>
            <a:lvl2pPr>
              <a:defRPr sz="4000"/>
            </a:lvl2pPr>
            <a:lvl3pPr>
              <a:defRPr sz="3400"/>
            </a:lvl3pPr>
            <a:lvl4pPr>
              <a:defRPr sz="2900"/>
            </a:lvl4pPr>
            <a:lvl5pPr>
              <a:defRPr sz="29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1524" y="1722120"/>
            <a:ext cx="4813301" cy="5629276"/>
          </a:xfrm>
        </p:spPr>
        <p:txBody>
          <a:bodyPr/>
          <a:lstStyle>
            <a:lvl1pPr marL="0" indent="0">
              <a:buNone/>
              <a:defRPr sz="2000"/>
            </a:lvl1pPr>
            <a:lvl2pPr marL="653044" indent="0">
              <a:buNone/>
              <a:defRPr sz="1700"/>
            </a:lvl2pPr>
            <a:lvl3pPr marL="1306090" indent="0">
              <a:buNone/>
              <a:defRPr sz="1400"/>
            </a:lvl3pPr>
            <a:lvl4pPr marL="1959135" indent="0">
              <a:buNone/>
              <a:defRPr sz="1300"/>
            </a:lvl4pPr>
            <a:lvl5pPr marL="2612181" indent="0">
              <a:buNone/>
              <a:defRPr sz="1300"/>
            </a:lvl5pPr>
            <a:lvl6pPr marL="3265225" indent="0">
              <a:buNone/>
              <a:defRPr sz="1300"/>
            </a:lvl6pPr>
            <a:lvl7pPr marL="3918270" indent="0">
              <a:buNone/>
              <a:defRPr sz="1300"/>
            </a:lvl7pPr>
            <a:lvl8pPr marL="4571314" indent="0">
              <a:buNone/>
              <a:defRPr sz="1300"/>
            </a:lvl8pPr>
            <a:lvl9pPr marL="5224359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             B.HEME NAGAMANI, ASST.PROFESSOR, IT&amp;DS DEPT.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395E6-B557-457B-A658-B1954780A9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7661" y="5760720"/>
            <a:ext cx="8778240" cy="680086"/>
          </a:xfrm>
        </p:spPr>
        <p:txBody>
          <a:bodyPr anchor="b"/>
          <a:lstStyle>
            <a:lvl1pPr algn="l">
              <a:defRPr sz="2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67661" y="735330"/>
            <a:ext cx="8778240" cy="4937760"/>
          </a:xfrm>
        </p:spPr>
        <p:txBody>
          <a:bodyPr/>
          <a:lstStyle>
            <a:lvl1pPr marL="0" indent="0">
              <a:buNone/>
              <a:defRPr sz="4600"/>
            </a:lvl1pPr>
            <a:lvl2pPr marL="653044" indent="0">
              <a:buNone/>
              <a:defRPr sz="4000"/>
            </a:lvl2pPr>
            <a:lvl3pPr marL="1306090" indent="0">
              <a:buNone/>
              <a:defRPr sz="3400"/>
            </a:lvl3pPr>
            <a:lvl4pPr marL="1959135" indent="0">
              <a:buNone/>
              <a:defRPr sz="2900"/>
            </a:lvl4pPr>
            <a:lvl5pPr marL="2612181" indent="0">
              <a:buNone/>
              <a:defRPr sz="2900"/>
            </a:lvl5pPr>
            <a:lvl6pPr marL="3265225" indent="0">
              <a:buNone/>
              <a:defRPr sz="2900"/>
            </a:lvl6pPr>
            <a:lvl7pPr marL="3918270" indent="0">
              <a:buNone/>
              <a:defRPr sz="2900"/>
            </a:lvl7pPr>
            <a:lvl8pPr marL="4571314" indent="0">
              <a:buNone/>
              <a:defRPr sz="2900"/>
            </a:lvl8pPr>
            <a:lvl9pPr marL="5224359" indent="0">
              <a:buNone/>
              <a:defRPr sz="29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67661" y="6440806"/>
            <a:ext cx="8778240" cy="965834"/>
          </a:xfrm>
        </p:spPr>
        <p:txBody>
          <a:bodyPr/>
          <a:lstStyle>
            <a:lvl1pPr marL="0" indent="0">
              <a:buNone/>
              <a:defRPr sz="2000"/>
            </a:lvl1pPr>
            <a:lvl2pPr marL="653044" indent="0">
              <a:buNone/>
              <a:defRPr sz="1700"/>
            </a:lvl2pPr>
            <a:lvl3pPr marL="1306090" indent="0">
              <a:buNone/>
              <a:defRPr sz="1400"/>
            </a:lvl3pPr>
            <a:lvl4pPr marL="1959135" indent="0">
              <a:buNone/>
              <a:defRPr sz="1300"/>
            </a:lvl4pPr>
            <a:lvl5pPr marL="2612181" indent="0">
              <a:buNone/>
              <a:defRPr sz="1300"/>
            </a:lvl5pPr>
            <a:lvl6pPr marL="3265225" indent="0">
              <a:buNone/>
              <a:defRPr sz="1300"/>
            </a:lvl6pPr>
            <a:lvl7pPr marL="3918270" indent="0">
              <a:buNone/>
              <a:defRPr sz="1300"/>
            </a:lvl7pPr>
            <a:lvl8pPr marL="4571314" indent="0">
              <a:buNone/>
              <a:defRPr sz="1300"/>
            </a:lvl8pPr>
            <a:lvl9pPr marL="5224359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             B.HEME NAGAMANI, ASST.PROFESSOR, IT&amp;DS DEPT.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395E6-B557-457B-A658-B1954780A9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             B.HEME NAGAMANI, ASST.PROFESSOR, IT&amp;DS DEPT.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395E6-B557-457B-A658-B1954780A9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972280" y="396240"/>
            <a:ext cx="5265421" cy="842581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0945" y="396240"/>
            <a:ext cx="15557499" cy="842581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             B.HEME NAGAMANI, ASST.PROFESSOR, IT&amp;DS DEPT.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395E6-B557-457B-A658-B1954780A9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329566"/>
            <a:ext cx="13167360" cy="1371600"/>
          </a:xfrm>
          <a:prstGeom prst="rect">
            <a:avLst/>
          </a:prstGeom>
        </p:spPr>
        <p:txBody>
          <a:bodyPr vert="horz" lIns="130609" tIns="65305" rIns="130609" bIns="65305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1920240"/>
            <a:ext cx="13167360" cy="5431156"/>
          </a:xfrm>
          <a:prstGeom prst="rect">
            <a:avLst/>
          </a:prstGeom>
        </p:spPr>
        <p:txBody>
          <a:bodyPr vert="horz" lIns="130609" tIns="65305" rIns="130609" bIns="6530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520" y="7627623"/>
            <a:ext cx="3413760" cy="438150"/>
          </a:xfrm>
          <a:prstGeom prst="rect">
            <a:avLst/>
          </a:prstGeom>
        </p:spPr>
        <p:txBody>
          <a:bodyPr vert="horz" lIns="130609" tIns="65305" rIns="130609" bIns="65305" rtlCol="0" anchor="ctr"/>
          <a:lstStyle>
            <a:lvl1pPr algn="l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98720" y="7627623"/>
            <a:ext cx="4632960" cy="438150"/>
          </a:xfrm>
          <a:prstGeom prst="rect">
            <a:avLst/>
          </a:prstGeom>
        </p:spPr>
        <p:txBody>
          <a:bodyPr vert="horz" lIns="130609" tIns="65305" rIns="130609" bIns="65305" rtlCol="0" anchor="ctr"/>
          <a:lstStyle>
            <a:lvl1pPr algn="ct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DBMS             B.HEME NAGAMANI, ASST.PROFESSOR, IT&amp;DS DEPT.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85120" y="7627623"/>
            <a:ext cx="3413760" cy="438150"/>
          </a:xfrm>
          <a:prstGeom prst="rect">
            <a:avLst/>
          </a:prstGeom>
        </p:spPr>
        <p:txBody>
          <a:bodyPr vert="horz" lIns="130609" tIns="65305" rIns="130609" bIns="65305" rtlCol="0" anchor="ctr"/>
          <a:lstStyle>
            <a:lvl1pPr algn="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4395E6-B557-457B-A658-B1954780A9A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</p:sldLayoutIdLst>
  <p:hf sldNum="0" hdr="0" dt="0"/>
  <p:txStyles>
    <p:titleStyle>
      <a:lvl1pPr algn="ctr" defTabSz="1306090" rtl="0" eaLnBrk="1" latinLnBrk="0" hangingPunct="1">
        <a:spcBef>
          <a:spcPct val="0"/>
        </a:spcBef>
        <a:buNone/>
        <a:defRPr sz="6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9784" indent="-489784" algn="l" defTabSz="1306090" rtl="0" eaLnBrk="1" latinLnBrk="0" hangingPunct="1">
        <a:spcBef>
          <a:spcPct val="20000"/>
        </a:spcBef>
        <a:buFont typeface="Arial" pitchFamily="34" charset="0"/>
        <a:buChar char="•"/>
        <a:defRPr sz="4600" kern="1200">
          <a:solidFill>
            <a:schemeClr val="tx1"/>
          </a:solidFill>
          <a:latin typeface="+mn-lt"/>
          <a:ea typeface="+mn-ea"/>
          <a:cs typeface="+mn-cs"/>
        </a:defRPr>
      </a:lvl1pPr>
      <a:lvl2pPr marL="1061198" indent="-408154" algn="l" defTabSz="1306090" rtl="0" eaLnBrk="1" latinLnBrk="0" hangingPunct="1">
        <a:spcBef>
          <a:spcPct val="20000"/>
        </a:spcBef>
        <a:buFont typeface="Arial" pitchFamily="34" charset="0"/>
        <a:buChar char="–"/>
        <a:defRPr sz="4000" kern="1200">
          <a:solidFill>
            <a:schemeClr val="tx1"/>
          </a:solidFill>
          <a:latin typeface="+mn-lt"/>
          <a:ea typeface="+mn-ea"/>
          <a:cs typeface="+mn-cs"/>
        </a:defRPr>
      </a:lvl2pPr>
      <a:lvl3pPr marL="1632613" indent="-326522" algn="l" defTabSz="1306090" rtl="0" eaLnBrk="1" latinLnBrk="0" hangingPunct="1">
        <a:spcBef>
          <a:spcPct val="20000"/>
        </a:spcBef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3pPr>
      <a:lvl4pPr marL="2285657" indent="-326522" algn="l" defTabSz="1306090" rtl="0" eaLnBrk="1" latinLnBrk="0" hangingPunct="1">
        <a:spcBef>
          <a:spcPct val="20000"/>
        </a:spcBef>
        <a:buFont typeface="Arial" pitchFamily="34" charset="0"/>
        <a:buChar char="–"/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938702" indent="-326522" algn="l" defTabSz="1306090" rtl="0" eaLnBrk="1" latinLnBrk="0" hangingPunct="1">
        <a:spcBef>
          <a:spcPct val="20000"/>
        </a:spcBef>
        <a:buFont typeface="Arial" pitchFamily="34" charset="0"/>
        <a:buChar char="»"/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591746" indent="-326522" algn="l" defTabSz="1306090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244791" indent="-326522" algn="l" defTabSz="1306090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4897837" indent="-326522" algn="l" defTabSz="1306090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550882" indent="-326522" algn="l" defTabSz="1306090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609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3044" algn="l" defTabSz="130609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6090" algn="l" defTabSz="130609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9135" algn="l" defTabSz="130609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12181" algn="l" defTabSz="130609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65225" algn="l" defTabSz="130609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18270" algn="l" defTabSz="130609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314" algn="l" defTabSz="130609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24359" algn="l" defTabSz="130609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2C6C0-94B4-71A3-0F3D-4E8331F73B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6622" y="2449688"/>
            <a:ext cx="12336498" cy="1196623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DMS CAPSTONE PROJECT</a:t>
            </a:r>
            <a:endParaRPr lang="en-US" sz="48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0B7B96-3192-9FD1-EFE0-0F9EDAF2F9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22682" y="6173263"/>
            <a:ext cx="5403465" cy="1805408"/>
          </a:xfrm>
        </p:spPr>
        <p:txBody>
          <a:bodyPr vert="horz" lIns="130609" tIns="65305" rIns="130609" bIns="65305" rtlCol="0" anchor="t">
            <a:normAutofit fontScale="40000" lnSpcReduction="20000"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Under The Guidance Of :</a:t>
            </a:r>
          </a:p>
          <a:p>
            <a:pPr lvl="0" defTabSz="914400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Name of the Faculty</a:t>
            </a:r>
          </a:p>
          <a:p>
            <a:pPr lvl="0" defTabSz="914400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Assistant Professor</a:t>
            </a:r>
          </a:p>
          <a:p>
            <a:pPr lvl="0" defTabSz="914400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Department of IT&amp;DS </a:t>
            </a:r>
          </a:p>
          <a:p>
            <a:pPr lvl="0" defTabSz="914400">
              <a:lnSpc>
                <a:spcPct val="90000"/>
              </a:lnSpc>
              <a:spcBef>
                <a:spcPts val="1000"/>
              </a:spcBef>
              <a:defRPr/>
            </a:pP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Aditya University</a:t>
            </a:r>
          </a:p>
          <a:p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ea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3EC027-1E86-BE9A-D0FE-FC2AEDC6D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282223"/>
            <a:ext cx="9997439" cy="14788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FEE904A-D8B2-E5A2-8205-6A52D22853B0}"/>
              </a:ext>
            </a:extLst>
          </p:cNvPr>
          <p:cNvSpPr txBox="1"/>
          <p:nvPr/>
        </p:nvSpPr>
        <p:spPr>
          <a:xfrm>
            <a:off x="421648" y="6537695"/>
            <a:ext cx="506109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ea typeface="Calibri"/>
                <a:cs typeface="Calibri"/>
              </a:rPr>
              <a:t>Team roll numbers and name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76C072-E379-8708-2AF2-93DD1B340BC6}"/>
              </a:ext>
            </a:extLst>
          </p:cNvPr>
          <p:cNvSpPr txBox="1"/>
          <p:nvPr/>
        </p:nvSpPr>
        <p:spPr>
          <a:xfrm>
            <a:off x="4321233" y="3419458"/>
            <a:ext cx="787076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Calibri"/>
                <a:cs typeface="Arial"/>
              </a:rPr>
              <a:t>E-Commerce Order Management System</a:t>
            </a:r>
            <a:endParaRPr lang="en-US" sz="2400" dirty="0">
              <a:solidFill>
                <a:schemeClr val="accent2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998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7D08E94B-4909-598C-DA86-A689C51B34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412" y="276136"/>
            <a:ext cx="1795366" cy="6668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7BC95E8-E7D4-F9C6-0872-6BC91C802801}"/>
              </a:ext>
            </a:extLst>
          </p:cNvPr>
          <p:cNvSpPr txBox="1"/>
          <p:nvPr/>
        </p:nvSpPr>
        <p:spPr>
          <a:xfrm>
            <a:off x="5296261" y="376121"/>
            <a:ext cx="4405300" cy="8356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4800" dirty="0"/>
              <a:t>Project Abstract</a:t>
            </a:r>
            <a:endParaRPr lang="en-US" sz="4800" b="1" dirty="0">
              <a:latin typeface="Lora"/>
              <a:ea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D99BDC-7F85-67C7-0076-BAE4F8A55A06}"/>
              </a:ext>
            </a:extLst>
          </p:cNvPr>
          <p:cNvSpPr txBox="1"/>
          <p:nvPr/>
        </p:nvSpPr>
        <p:spPr>
          <a:xfrm>
            <a:off x="1116095" y="1614123"/>
            <a:ext cx="1189835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The </a:t>
            </a:r>
            <a:r>
              <a:rPr lang="en-GB" sz="2000" b="1" dirty="0"/>
              <a:t>E-Commerce Order Management System</a:t>
            </a:r>
            <a:r>
              <a:rPr lang="en-GB" sz="2000" dirty="0"/>
              <a:t> is a relational database designed to efficiently manage and organize the core operations of an e-commerce business. The system maintains connected information about </a:t>
            </a:r>
            <a:r>
              <a:rPr lang="en-GB" sz="2000" b="1" dirty="0"/>
              <a:t>customers, suppliers, categories, products, inventory, orders, order items, and payments</a:t>
            </a:r>
            <a:r>
              <a:rPr lang="en-GB" sz="2000" dirty="0"/>
              <a:t>.</a:t>
            </a:r>
          </a:p>
          <a:p>
            <a:endParaRPr lang="en-GB" sz="2000" dirty="0"/>
          </a:p>
          <a:p>
            <a:r>
              <a:rPr lang="en-GB" sz="2000" dirty="0"/>
              <a:t>The database helps maintain accurate relationships between these entities, making it easier to manage product information, monitor inventory, process customer orders, track individual order items, and record payment details.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3BA8C5-C51F-5C48-8488-5E985C6E8A42}"/>
              </a:ext>
            </a:extLst>
          </p:cNvPr>
          <p:cNvSpPr txBox="1"/>
          <p:nvPr/>
        </p:nvSpPr>
        <p:spPr>
          <a:xfrm>
            <a:off x="5872090" y="4263265"/>
            <a:ext cx="5871117" cy="2553891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400" b="1" dirty="0"/>
              <a:t>Core System</a:t>
            </a:r>
          </a:p>
          <a:p>
            <a:endParaRPr lang="en-GB" sz="2000" dirty="0"/>
          </a:p>
          <a:p>
            <a:r>
              <a:rPr lang="en-GB" sz="2000" dirty="0"/>
              <a:t>Customer → Order → Order Item → Product</a:t>
            </a:r>
            <a:br>
              <a:rPr lang="en-GB" sz="2000" dirty="0"/>
            </a:br>
            <a:r>
              <a:rPr lang="en-GB" sz="2000" dirty="0"/>
              <a:t>Category → Product</a:t>
            </a:r>
            <a:br>
              <a:rPr lang="en-GB" sz="2000" dirty="0"/>
            </a:br>
            <a:r>
              <a:rPr lang="en-GB" sz="2000" dirty="0"/>
              <a:t>Supplier → Product</a:t>
            </a:r>
            <a:br>
              <a:rPr lang="en-GB" sz="2000" dirty="0"/>
            </a:br>
            <a:r>
              <a:rPr lang="en-GB" sz="2000" dirty="0" err="1"/>
              <a:t>Product</a:t>
            </a:r>
            <a:r>
              <a:rPr lang="en-GB" sz="2000" dirty="0"/>
              <a:t> → Inventory</a:t>
            </a:r>
            <a:br>
              <a:rPr lang="en-GB" sz="2000" dirty="0"/>
            </a:br>
            <a:r>
              <a:rPr lang="en-GB" sz="2000" dirty="0"/>
              <a:t>Order → Payment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79F515-BB1C-2FAE-2AAB-17B87801FD71}"/>
              </a:ext>
            </a:extLst>
          </p:cNvPr>
          <p:cNvSpPr txBox="1"/>
          <p:nvPr/>
        </p:nvSpPr>
        <p:spPr>
          <a:xfrm>
            <a:off x="1025912" y="4114800"/>
            <a:ext cx="4406589" cy="3915966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400" b="1" dirty="0"/>
              <a:t>Core Database</a:t>
            </a:r>
          </a:p>
          <a:p>
            <a:r>
              <a:rPr lang="en-GB" sz="2000" dirty="0"/>
              <a:t>8 Business Tables</a:t>
            </a:r>
          </a:p>
          <a:p>
            <a:endParaRPr lang="en-GB" sz="2000" dirty="0"/>
          </a:p>
          <a:p>
            <a:pPr marL="457200" lvl="0" indent="-457200">
              <a:buFont typeface="+mj-lt"/>
              <a:buAutoNum type="arabicPeriod"/>
            </a:pPr>
            <a:r>
              <a:rPr lang="en-GB" sz="2000" dirty="0"/>
              <a:t>CUSTOMER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GB" sz="2000" dirty="0"/>
              <a:t>SUPPLIER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GB" sz="2000" dirty="0"/>
              <a:t>CATEGORY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GB" sz="2000" dirty="0"/>
              <a:t>PRODUCT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GB" sz="2000" dirty="0"/>
              <a:t>INVENTORY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GB" sz="2000" dirty="0"/>
              <a:t>ORDERS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GB" sz="2000" dirty="0"/>
              <a:t>ORDER_ITEM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GB" sz="2000" dirty="0"/>
              <a:t>PAYMENT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2F4A55A7-3D59-C616-D9BA-13970B8928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82" y="148545"/>
            <a:ext cx="1795366" cy="6668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F8278B4-DF9D-881F-F08A-9F326A79CE97}"/>
              </a:ext>
            </a:extLst>
          </p:cNvPr>
          <p:cNvSpPr txBox="1"/>
          <p:nvPr/>
        </p:nvSpPr>
        <p:spPr>
          <a:xfrm>
            <a:off x="4425470" y="527931"/>
            <a:ext cx="779864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 dirty="0">
                <a:latin typeface="Lora"/>
                <a:ea typeface="Calibri"/>
                <a:cs typeface="Calibri"/>
              </a:rPr>
              <a:t>Problem Statement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F41415-D8AA-36E6-B469-C3C4ECE5DFBC}"/>
              </a:ext>
            </a:extLst>
          </p:cNvPr>
          <p:cNvSpPr txBox="1"/>
          <p:nvPr/>
        </p:nvSpPr>
        <p:spPr>
          <a:xfrm>
            <a:off x="1073565" y="1600162"/>
            <a:ext cx="1259783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Managing an e-commerce business involves handling large amounts of </a:t>
            </a:r>
            <a:r>
              <a:rPr lang="en-GB" sz="2400" b="1" dirty="0"/>
              <a:t>customer, supplier, product, inventory, order, and payment data</a:t>
            </a:r>
            <a:r>
              <a:rPr lang="en-GB" sz="2400" dirty="0"/>
              <a:t>. When this information is stored or managed separately, it can lead to </a:t>
            </a:r>
            <a:r>
              <a:rPr lang="en-GB" sz="2400" b="1" dirty="0"/>
              <a:t>data duplication, inconsistency, difficulty in tracking orders, and poor inventory management</a:t>
            </a:r>
            <a:r>
              <a:rPr lang="en-GB" sz="2400" dirty="0"/>
              <a:t>.</a:t>
            </a:r>
          </a:p>
          <a:p>
            <a:endParaRPr lang="en-GB" sz="2400" dirty="0"/>
          </a:p>
          <a:p>
            <a:r>
              <a:rPr lang="en-GB" sz="2400" dirty="0"/>
              <a:t>Therefore, a </a:t>
            </a:r>
            <a:r>
              <a:rPr lang="en-GB" sz="2400" b="1" dirty="0"/>
              <a:t>structured relational database</a:t>
            </a:r>
            <a:r>
              <a:rPr lang="en-GB" sz="2400" dirty="0"/>
              <a:t> is required to organize the data, maintain relationships between different entities, and provide reliable access to important e-commerce information.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550145-7C54-CD96-3305-9C2982DD9FEB}"/>
              </a:ext>
            </a:extLst>
          </p:cNvPr>
          <p:cNvSpPr txBox="1"/>
          <p:nvPr/>
        </p:nvSpPr>
        <p:spPr>
          <a:xfrm>
            <a:off x="855514" y="4777142"/>
            <a:ext cx="611087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/>
              <a:t>Objectives</a:t>
            </a:r>
          </a:p>
          <a:p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Organize e-commerce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Manage customers and suppliers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Manage products and categories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Track inventory and orders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Store order and payment information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Maintain data relationships and integrity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E002FA-ED39-B487-6D8E-70B5EE21A7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82" y="148545"/>
            <a:ext cx="1795366" cy="6668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6970A11-A3A2-D20C-7886-FE3766DE75CC}"/>
              </a:ext>
            </a:extLst>
          </p:cNvPr>
          <p:cNvSpPr txBox="1"/>
          <p:nvPr/>
        </p:nvSpPr>
        <p:spPr>
          <a:xfrm>
            <a:off x="4240729" y="771524"/>
            <a:ext cx="523188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4800" dirty="0"/>
              <a:t>Entities &amp; Attributes</a:t>
            </a:r>
            <a:endParaRPr lang="en-US" dirty="0">
              <a:ea typeface="Calibri"/>
              <a:cs typeface="Calibri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3F85E81-CD01-345F-7BCA-69ABA88F4F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4742729"/>
              </p:ext>
            </p:extLst>
          </p:nvPr>
        </p:nvGraphicFramePr>
        <p:xfrm>
          <a:off x="760373" y="2052407"/>
          <a:ext cx="12687998" cy="5430837"/>
        </p:xfrm>
        <a:graphic>
          <a:graphicData uri="http://schemas.openxmlformats.org/drawingml/2006/table">
            <a:tbl>
              <a:tblPr/>
              <a:tblGrid>
                <a:gridCol w="6343999">
                  <a:extLst>
                    <a:ext uri="{9D8B030D-6E8A-4147-A177-3AD203B41FA5}">
                      <a16:colId xmlns:a16="http://schemas.microsoft.com/office/drawing/2014/main" val="1866622665"/>
                    </a:ext>
                  </a:extLst>
                </a:gridCol>
                <a:gridCol w="6343999">
                  <a:extLst>
                    <a:ext uri="{9D8B030D-6E8A-4147-A177-3AD203B41FA5}">
                      <a16:colId xmlns:a16="http://schemas.microsoft.com/office/drawing/2014/main" val="1612940948"/>
                    </a:ext>
                  </a:extLst>
                </a:gridCol>
              </a:tblGrid>
              <a:tr h="4748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Entity</a:t>
                      </a:r>
                    </a:p>
                  </a:txBody>
                  <a:tcPr marL="89030" marR="89030" marT="44515" marB="445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Main Attributes</a:t>
                      </a:r>
                    </a:p>
                  </a:txBody>
                  <a:tcPr marL="89030" marR="89030" marT="44515" marB="445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568204"/>
                  </a:ext>
                </a:extLst>
              </a:tr>
              <a:tr h="4748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CUSTOMER</a:t>
                      </a:r>
                    </a:p>
                  </a:txBody>
                  <a:tcPr marL="89030" marR="89030" marT="44515" marB="445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ID, First Name, Last Name, Email, Phone</a:t>
                      </a:r>
                    </a:p>
                  </a:txBody>
                  <a:tcPr marL="89030" marR="89030" marT="44515" marB="445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1504931"/>
                  </a:ext>
                </a:extLst>
              </a:tr>
              <a:tr h="4748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SUPPLIER</a:t>
                      </a:r>
                    </a:p>
                  </a:txBody>
                  <a:tcPr marL="89030" marR="89030" marT="44515" marB="445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ID, Name, Contact Email, Phone</a:t>
                      </a:r>
                    </a:p>
                  </a:txBody>
                  <a:tcPr marL="89030" marR="89030" marT="44515" marB="445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0832953"/>
                  </a:ext>
                </a:extLst>
              </a:tr>
              <a:tr h="4748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CATEGORY</a:t>
                      </a:r>
                    </a:p>
                  </a:txBody>
                  <a:tcPr marL="89030" marR="89030" marT="44515" marB="445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ID, Name, Description</a:t>
                      </a:r>
                    </a:p>
                  </a:txBody>
                  <a:tcPr marL="89030" marR="89030" marT="44515" marB="445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5737150"/>
                  </a:ext>
                </a:extLst>
              </a:tr>
              <a:tr h="4748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PRODUCT</a:t>
                      </a:r>
                    </a:p>
                  </a:txBody>
                  <a:tcPr marL="89030" marR="89030" marT="44515" marB="445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ID, Category ID, Supplier ID, Name, Price, SKU</a:t>
                      </a:r>
                    </a:p>
                  </a:txBody>
                  <a:tcPr marL="89030" marR="89030" marT="44515" marB="445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4731471"/>
                  </a:ext>
                </a:extLst>
              </a:tr>
              <a:tr h="4748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INVENTORY</a:t>
                      </a:r>
                    </a:p>
                  </a:txBody>
                  <a:tcPr marL="89030" marR="89030" marT="44515" marB="445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ID, Product ID, Warehouse Location, Quantity</a:t>
                      </a:r>
                    </a:p>
                  </a:txBody>
                  <a:tcPr marL="89030" marR="89030" marT="44515" marB="445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7203523"/>
                  </a:ext>
                </a:extLst>
              </a:tr>
              <a:tr h="86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ORDERS</a:t>
                      </a:r>
                    </a:p>
                  </a:txBody>
                  <a:tcPr marL="89030" marR="89030" marT="44515" marB="445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ID, Customer ID, Order Date, Status, Total Amount</a:t>
                      </a:r>
                    </a:p>
                  </a:txBody>
                  <a:tcPr marL="89030" marR="89030" marT="44515" marB="445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683517"/>
                  </a:ext>
                </a:extLst>
              </a:tr>
              <a:tr h="86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ORDER_ITEM</a:t>
                      </a:r>
                    </a:p>
                  </a:txBody>
                  <a:tcPr marL="89030" marR="89030" marT="44515" marB="445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ID, Order ID, Product ID, Quantity, Unit Price, Subtotal</a:t>
                      </a:r>
                    </a:p>
                  </a:txBody>
                  <a:tcPr marL="89030" marR="89030" marT="44515" marB="445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58072"/>
                  </a:ext>
                </a:extLst>
              </a:tr>
              <a:tr h="86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PAYMENT</a:t>
                      </a:r>
                    </a:p>
                  </a:txBody>
                  <a:tcPr marL="89030" marR="89030" marT="44515" marB="445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ID, Order ID, Payment Method, Amount, Payment Status</a:t>
                      </a:r>
                    </a:p>
                  </a:txBody>
                  <a:tcPr marL="89030" marR="89030" marT="44515" marB="445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13103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1"/>
          <p:cNvSpPr>
            <a:spLocks noChangeArrowheads="1"/>
          </p:cNvSpPr>
          <p:nvPr/>
        </p:nvSpPr>
        <p:spPr bwMode="auto">
          <a:xfrm>
            <a:off x="3816832" y="183535"/>
            <a:ext cx="699673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lang="en-GB" sz="4800" dirty="0"/>
              <a:t>Tables, Keys &amp; Constraints</a:t>
            </a:r>
            <a:endParaRPr lang="en-US" sz="5400" i="0" u="none" strike="noStrike" cap="none" normalizeH="0" baseline="0" dirty="0">
              <a:ln>
                <a:noFill/>
              </a:ln>
              <a:solidFill>
                <a:srgbClr val="273239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94A281-D734-D003-39C5-E7B2E1BB4B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82" y="148545"/>
            <a:ext cx="1795366" cy="6668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05B095-A798-C379-0ABA-915B5DFD1252}"/>
              </a:ext>
            </a:extLst>
          </p:cNvPr>
          <p:cNvSpPr txBox="1"/>
          <p:nvPr/>
        </p:nvSpPr>
        <p:spPr>
          <a:xfrm>
            <a:off x="8038714" y="1580940"/>
            <a:ext cx="5076322" cy="4014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🔗 Foreign Keys</a:t>
            </a:r>
          </a:p>
          <a:p>
            <a:endParaRPr lang="en-GB" sz="2400" b="1" dirty="0"/>
          </a:p>
          <a:p>
            <a:pPr lvl="0">
              <a:lnSpc>
                <a:spcPct val="150000"/>
              </a:lnSpc>
            </a:pPr>
            <a:r>
              <a:rPr lang="en-GB" sz="2000" dirty="0"/>
              <a:t>PRODUCT → CATEGORY_ID </a:t>
            </a:r>
          </a:p>
          <a:p>
            <a:pPr lvl="0">
              <a:lnSpc>
                <a:spcPct val="150000"/>
              </a:lnSpc>
            </a:pPr>
            <a:r>
              <a:rPr lang="en-GB" sz="2000" dirty="0"/>
              <a:t>PRODUCT → SUPPLIER_ID </a:t>
            </a:r>
          </a:p>
          <a:p>
            <a:pPr lvl="0">
              <a:lnSpc>
                <a:spcPct val="150000"/>
              </a:lnSpc>
            </a:pPr>
            <a:r>
              <a:rPr lang="en-GB" sz="2000" dirty="0"/>
              <a:t>INVENTORY → PRODUCT_ID </a:t>
            </a:r>
          </a:p>
          <a:p>
            <a:pPr lvl="0">
              <a:lnSpc>
                <a:spcPct val="150000"/>
              </a:lnSpc>
            </a:pPr>
            <a:r>
              <a:rPr lang="en-GB" sz="2000" dirty="0"/>
              <a:t>ORDERS → CUSTOMER_ID </a:t>
            </a:r>
          </a:p>
          <a:p>
            <a:pPr lvl="0">
              <a:lnSpc>
                <a:spcPct val="150000"/>
              </a:lnSpc>
            </a:pPr>
            <a:r>
              <a:rPr lang="en-GB" sz="2000" dirty="0"/>
              <a:t>ORDER_ITEM → ORDER_ID </a:t>
            </a:r>
          </a:p>
          <a:p>
            <a:pPr lvl="0">
              <a:lnSpc>
                <a:spcPct val="150000"/>
              </a:lnSpc>
            </a:pPr>
            <a:r>
              <a:rPr lang="en-GB" sz="2000" dirty="0"/>
              <a:t>ORDER_ITEM → PRODUCT_ID </a:t>
            </a:r>
          </a:p>
          <a:p>
            <a:pPr lvl="0">
              <a:lnSpc>
                <a:spcPct val="150000"/>
              </a:lnSpc>
            </a:pPr>
            <a:r>
              <a:rPr lang="en-GB" sz="2000" dirty="0"/>
              <a:t>PAYMENT → ORDER_ID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805B15-2768-A72D-891B-9EAD2C032B50}"/>
              </a:ext>
            </a:extLst>
          </p:cNvPr>
          <p:cNvSpPr txBox="1"/>
          <p:nvPr/>
        </p:nvSpPr>
        <p:spPr>
          <a:xfrm>
            <a:off x="1515364" y="1580940"/>
            <a:ext cx="3936381" cy="4476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🔑 Primary Keys</a:t>
            </a:r>
          </a:p>
          <a:p>
            <a:endParaRPr lang="en-GB" sz="2400" b="1" dirty="0"/>
          </a:p>
          <a:p>
            <a:pPr lvl="0">
              <a:lnSpc>
                <a:spcPct val="150000"/>
              </a:lnSpc>
            </a:pPr>
            <a:r>
              <a:rPr lang="en-GB" sz="2000" dirty="0"/>
              <a:t>CUSTOMER → CUSTOMER_ID </a:t>
            </a:r>
          </a:p>
          <a:p>
            <a:pPr lvl="0">
              <a:lnSpc>
                <a:spcPct val="150000"/>
              </a:lnSpc>
            </a:pPr>
            <a:r>
              <a:rPr lang="en-GB" sz="2000" dirty="0"/>
              <a:t>SUPPLIER → SUPPLIER_ID </a:t>
            </a:r>
          </a:p>
          <a:p>
            <a:pPr lvl="0">
              <a:lnSpc>
                <a:spcPct val="150000"/>
              </a:lnSpc>
            </a:pPr>
            <a:r>
              <a:rPr lang="en-GB" sz="2000" dirty="0"/>
              <a:t>CATEGORY → CATEGORY_ID </a:t>
            </a:r>
          </a:p>
          <a:p>
            <a:pPr lvl="0">
              <a:lnSpc>
                <a:spcPct val="150000"/>
              </a:lnSpc>
            </a:pPr>
            <a:r>
              <a:rPr lang="en-GB" sz="2000" dirty="0"/>
              <a:t>PRODUCT → PRODUCT_ID </a:t>
            </a:r>
          </a:p>
          <a:p>
            <a:pPr lvl="0">
              <a:lnSpc>
                <a:spcPct val="150000"/>
              </a:lnSpc>
            </a:pPr>
            <a:r>
              <a:rPr lang="en-GB" sz="2000" dirty="0"/>
              <a:t>INVENTORY → INVENTORY_ID </a:t>
            </a:r>
          </a:p>
          <a:p>
            <a:pPr lvl="0">
              <a:lnSpc>
                <a:spcPct val="150000"/>
              </a:lnSpc>
            </a:pPr>
            <a:r>
              <a:rPr lang="en-GB" sz="2000" dirty="0"/>
              <a:t>ORDERS → ORDER_ID </a:t>
            </a:r>
          </a:p>
          <a:p>
            <a:pPr lvl="0">
              <a:lnSpc>
                <a:spcPct val="150000"/>
              </a:lnSpc>
            </a:pPr>
            <a:r>
              <a:rPr lang="en-GB" sz="2000" dirty="0"/>
              <a:t>ORDER_ITEM → ORDER_ITEM_ID </a:t>
            </a:r>
          </a:p>
          <a:p>
            <a:pPr lvl="0">
              <a:lnSpc>
                <a:spcPct val="150000"/>
              </a:lnSpc>
            </a:pPr>
            <a:r>
              <a:rPr lang="en-GB" sz="2000" dirty="0"/>
              <a:t>PAYMENT → PAYMENT_ID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2C0568-D934-7ACB-A0CE-5D3DDF5FFBBB}"/>
              </a:ext>
            </a:extLst>
          </p:cNvPr>
          <p:cNvSpPr txBox="1"/>
          <p:nvPr/>
        </p:nvSpPr>
        <p:spPr>
          <a:xfrm>
            <a:off x="2832409" y="6510310"/>
            <a:ext cx="73945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Constraints</a:t>
            </a:r>
          </a:p>
          <a:p>
            <a:r>
              <a:rPr lang="en-GB" b="1" dirty="0"/>
              <a:t>PRIMARY KEY • FOREIGN KEY • NOT NULL • UNIQUE • CHECK • DEFAULT</a:t>
            </a:r>
            <a:endParaRPr lang="en-GB" dirty="0"/>
          </a:p>
          <a:p>
            <a:r>
              <a:rPr lang="en-GB" dirty="0"/>
              <a:t>These constraints maintain </a:t>
            </a:r>
            <a:r>
              <a:rPr lang="en-GB" b="1" dirty="0"/>
              <a:t>data integrity and consistency</a:t>
            </a:r>
            <a:r>
              <a:rPr lang="en-GB" dirty="0"/>
              <a:t>.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1"/>
          <p:cNvSpPr>
            <a:spLocks noChangeArrowheads="1"/>
          </p:cNvSpPr>
          <p:nvPr/>
        </p:nvSpPr>
        <p:spPr bwMode="auto">
          <a:xfrm>
            <a:off x="4448539" y="344211"/>
            <a:ext cx="720448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lang="en-GB" sz="4800" dirty="0"/>
              <a:t>Entity Relationship Diagram</a:t>
            </a:r>
            <a:endParaRPr lang="en-US" sz="4800" b="1" i="0" u="none" strike="noStrike" cap="none" normalizeH="0" baseline="0" dirty="0">
              <a:ln>
                <a:noFill/>
              </a:ln>
              <a:solidFill>
                <a:srgbClr val="273239"/>
              </a:solidFill>
              <a:effectLst/>
              <a:latin typeface="Lora"/>
              <a:ea typeface="Alice"/>
              <a:cs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D8BA79-AFCD-8317-CA0C-9FA4C3CCDB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82" y="148545"/>
            <a:ext cx="1795366" cy="6668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DCB8A0-B084-4736-068F-C4A0D4AC9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248" y="60950"/>
            <a:ext cx="11736659" cy="78244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836CE7-680E-F99C-0144-3DCF852E77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82" y="148545"/>
            <a:ext cx="1795366" cy="6668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68263EB-EC89-B19C-B684-9CB669A917BE}"/>
              </a:ext>
            </a:extLst>
          </p:cNvPr>
          <p:cNvSpPr txBox="1"/>
          <p:nvPr/>
        </p:nvSpPr>
        <p:spPr>
          <a:xfrm>
            <a:off x="3784193" y="213904"/>
            <a:ext cx="749595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4800" dirty="0"/>
              <a:t>Relationships &amp; Cardinality</a:t>
            </a:r>
            <a:endParaRPr lang="en-US" sz="4800" b="1" dirty="0">
              <a:latin typeface="Lora"/>
              <a:ea typeface="Calibri"/>
              <a:cs typeface="Calibri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15C62A5-3DAD-B06E-FB97-B2100D9C05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9145596"/>
              </p:ext>
            </p:extLst>
          </p:nvPr>
        </p:nvGraphicFramePr>
        <p:xfrm>
          <a:off x="731838" y="1230263"/>
          <a:ext cx="13166724" cy="3901440"/>
        </p:xfrm>
        <a:graphic>
          <a:graphicData uri="http://schemas.openxmlformats.org/drawingml/2006/table">
            <a:tbl>
              <a:tblPr/>
              <a:tblGrid>
                <a:gridCol w="6583362">
                  <a:extLst>
                    <a:ext uri="{9D8B030D-6E8A-4147-A177-3AD203B41FA5}">
                      <a16:colId xmlns:a16="http://schemas.microsoft.com/office/drawing/2014/main" val="3267925204"/>
                    </a:ext>
                  </a:extLst>
                </a:gridCol>
                <a:gridCol w="6583362">
                  <a:extLst>
                    <a:ext uri="{9D8B030D-6E8A-4147-A177-3AD203B41FA5}">
                      <a16:colId xmlns:a16="http://schemas.microsoft.com/office/drawing/2014/main" val="910931816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Relationship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1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Cardinality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993005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CUSTOMER → ORDERS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 :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750228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CATEGORY → PRODUCT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 :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1047505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SUPPLIER → PRODUCT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 :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255605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PRODUCT → INVENTORY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 :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2040869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ORDERS → ORDER_ITEM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 :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2387129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PRODUCT → ORDER_ITEM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 : 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312811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ORDERS → PAYMENT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b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 :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853719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6403DCC-14C0-5DC8-EABF-28EAB7A70555}"/>
              </a:ext>
            </a:extLst>
          </p:cNvPr>
          <p:cNvSpPr txBox="1"/>
          <p:nvPr/>
        </p:nvSpPr>
        <p:spPr>
          <a:xfrm>
            <a:off x="713678" y="5566552"/>
            <a:ext cx="6289288" cy="1311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Key Relationship</a:t>
            </a:r>
          </a:p>
          <a:p>
            <a:pPr>
              <a:lnSpc>
                <a:spcPct val="150000"/>
              </a:lnSpc>
            </a:pPr>
            <a:r>
              <a:rPr lang="en-GB" b="1" dirty="0"/>
              <a:t>ORDERS ↔ ORDER_ITEM ↔ PRODUCT</a:t>
            </a:r>
            <a:endParaRPr lang="en-GB" dirty="0"/>
          </a:p>
          <a:p>
            <a:pPr>
              <a:lnSpc>
                <a:spcPct val="150000"/>
              </a:lnSpc>
            </a:pPr>
            <a:r>
              <a:rPr lang="en-GB" dirty="0"/>
              <a:t>ORDER_ITEM acts as the bridge between </a:t>
            </a:r>
            <a:r>
              <a:rPr lang="en-GB" b="1" dirty="0"/>
              <a:t>orders and products</a:t>
            </a:r>
            <a:r>
              <a:rPr lang="en-GB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BA2BFA-8B0F-1AAD-10DE-492D62EE87FB}"/>
              </a:ext>
            </a:extLst>
          </p:cNvPr>
          <p:cNvSpPr txBox="1"/>
          <p:nvPr/>
        </p:nvSpPr>
        <p:spPr>
          <a:xfrm>
            <a:off x="7002966" y="5658083"/>
            <a:ext cx="6583362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Example:</a:t>
            </a:r>
          </a:p>
          <a:p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A customer can place multiple orders.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An order can contain multiple order items.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A product can appear in multiple order items</a:t>
            </a:r>
            <a:r>
              <a:rPr lang="en-GB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54513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AE57C-8A5E-E381-FCE0-F6C94EBB4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F48711-692B-389E-9F41-324990754A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82" y="148545"/>
            <a:ext cx="1795366" cy="6668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BF1C661-401B-F745-0CCB-DC373820186F}"/>
              </a:ext>
            </a:extLst>
          </p:cNvPr>
          <p:cNvSpPr txBox="1"/>
          <p:nvPr/>
        </p:nvSpPr>
        <p:spPr>
          <a:xfrm>
            <a:off x="3260085" y="328132"/>
            <a:ext cx="914007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4800" dirty="0"/>
              <a:t>SQL Commands &amp; Data Operations</a:t>
            </a:r>
            <a:endParaRPr lang="en-US" sz="4800" b="1" dirty="0">
              <a:latin typeface="Lora"/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9E4087-D647-1408-5920-DBA541A5E8C0}"/>
              </a:ext>
            </a:extLst>
          </p:cNvPr>
          <p:cNvSpPr txBox="1"/>
          <p:nvPr/>
        </p:nvSpPr>
        <p:spPr>
          <a:xfrm>
            <a:off x="170329" y="1159129"/>
            <a:ext cx="4147546" cy="4408442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2400" b="1" dirty="0"/>
              <a:t>1. CREATE – Create Tables</a:t>
            </a:r>
          </a:p>
          <a:p>
            <a:endParaRPr lang="en-GB" dirty="0"/>
          </a:p>
          <a:p>
            <a:pPr>
              <a:lnSpc>
                <a:spcPct val="150000"/>
              </a:lnSpc>
            </a:pPr>
            <a:r>
              <a:rPr lang="en-GB" dirty="0"/>
              <a:t>CREATE TABLE CUSTOMER (...);</a:t>
            </a:r>
          </a:p>
          <a:p>
            <a:pPr>
              <a:lnSpc>
                <a:spcPct val="150000"/>
              </a:lnSpc>
            </a:pPr>
            <a:r>
              <a:rPr lang="en-GB" dirty="0"/>
              <a:t>CREATE TABLE SUPPLIER (...);</a:t>
            </a:r>
          </a:p>
          <a:p>
            <a:pPr>
              <a:lnSpc>
                <a:spcPct val="150000"/>
              </a:lnSpc>
            </a:pPr>
            <a:r>
              <a:rPr lang="en-GB" dirty="0"/>
              <a:t>CREATE TABLE CATEGORY (...);</a:t>
            </a:r>
          </a:p>
          <a:p>
            <a:pPr>
              <a:lnSpc>
                <a:spcPct val="150000"/>
              </a:lnSpc>
            </a:pPr>
            <a:r>
              <a:rPr lang="en-GB" dirty="0"/>
              <a:t>CREATE TABLE PRODUCT (...);</a:t>
            </a:r>
          </a:p>
          <a:p>
            <a:pPr>
              <a:lnSpc>
                <a:spcPct val="150000"/>
              </a:lnSpc>
            </a:pPr>
            <a:r>
              <a:rPr lang="en-GB" dirty="0"/>
              <a:t>CREATE TABLE INVENTORY (...);</a:t>
            </a:r>
          </a:p>
          <a:p>
            <a:pPr>
              <a:lnSpc>
                <a:spcPct val="150000"/>
              </a:lnSpc>
            </a:pPr>
            <a:r>
              <a:rPr lang="en-GB" dirty="0"/>
              <a:t>CREATE TABLE ORDERS (...);</a:t>
            </a:r>
          </a:p>
          <a:p>
            <a:pPr>
              <a:lnSpc>
                <a:spcPct val="150000"/>
              </a:lnSpc>
            </a:pPr>
            <a:r>
              <a:rPr lang="en-GB" dirty="0"/>
              <a:t>CREATE TABLE ORDER_ITEM (...);</a:t>
            </a:r>
          </a:p>
          <a:p>
            <a:pPr>
              <a:lnSpc>
                <a:spcPct val="150000"/>
              </a:lnSpc>
            </a:pPr>
            <a:r>
              <a:rPr lang="en-GB" dirty="0"/>
              <a:t>CREATE TABLE PAYMENT (...);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052927-B51B-1139-EC40-88645BAABFC5}"/>
              </a:ext>
            </a:extLst>
          </p:cNvPr>
          <p:cNvSpPr txBox="1"/>
          <p:nvPr/>
        </p:nvSpPr>
        <p:spPr>
          <a:xfrm>
            <a:off x="4672361" y="1645616"/>
            <a:ext cx="5285677" cy="3166824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2. INSERT — Add Data</a:t>
            </a:r>
          </a:p>
          <a:p>
            <a:pPr>
              <a:buNone/>
            </a:pPr>
            <a:r>
              <a:rPr lang="en-GB" dirty="0"/>
              <a:t>Used to insert records into the tables.</a:t>
            </a:r>
          </a:p>
          <a:p>
            <a:pPr>
              <a:buNone/>
            </a:pPr>
            <a:endParaRPr lang="en-GB" dirty="0"/>
          </a:p>
          <a:p>
            <a:pPr>
              <a:buNone/>
            </a:pPr>
            <a:r>
              <a:rPr lang="en-GB" dirty="0"/>
              <a:t>INSERT INTO CATEGORY (name, description)</a:t>
            </a:r>
          </a:p>
          <a:p>
            <a:pPr>
              <a:buNone/>
            </a:pPr>
            <a:r>
              <a:rPr lang="en-GB" dirty="0"/>
              <a:t>VALUES ('Electronics', 'Electronic products');</a:t>
            </a:r>
          </a:p>
          <a:p>
            <a:pPr>
              <a:buNone/>
            </a:pPr>
            <a:endParaRPr lang="en-GB" dirty="0"/>
          </a:p>
          <a:p>
            <a:pPr>
              <a:buNone/>
            </a:pPr>
            <a:r>
              <a:rPr lang="en-GB" dirty="0"/>
              <a:t>INSERT INTO PRODUCT</a:t>
            </a:r>
          </a:p>
          <a:p>
            <a:pPr>
              <a:buNone/>
            </a:pPr>
            <a:r>
              <a:rPr lang="en-GB" dirty="0"/>
              <a:t>    (</a:t>
            </a:r>
            <a:r>
              <a:rPr lang="en-GB" dirty="0" err="1"/>
              <a:t>category_id</a:t>
            </a:r>
            <a:r>
              <a:rPr lang="en-GB" dirty="0"/>
              <a:t>, </a:t>
            </a:r>
            <a:r>
              <a:rPr lang="en-GB" dirty="0" err="1"/>
              <a:t>supplier_id</a:t>
            </a:r>
            <a:r>
              <a:rPr lang="en-GB" dirty="0"/>
              <a:t>, name, price, </a:t>
            </a:r>
            <a:r>
              <a:rPr lang="en-GB" dirty="0" err="1"/>
              <a:t>sku</a:t>
            </a:r>
            <a:r>
              <a:rPr lang="en-GB" dirty="0"/>
              <a:t>)</a:t>
            </a:r>
          </a:p>
          <a:p>
            <a:pPr>
              <a:buNone/>
            </a:pPr>
            <a:r>
              <a:rPr lang="en-GB" dirty="0"/>
              <a:t>VALUES</a:t>
            </a:r>
          </a:p>
          <a:p>
            <a:pPr>
              <a:buNone/>
            </a:pPr>
            <a:r>
              <a:rPr lang="en-GB" dirty="0"/>
              <a:t>    (1, 1, 'Wireless Earbuds Pro', 2499.00, 'WEP001');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0775388-0187-0D7E-F4BB-694E02CA296C}"/>
              </a:ext>
            </a:extLst>
          </p:cNvPr>
          <p:cNvSpPr txBox="1"/>
          <p:nvPr/>
        </p:nvSpPr>
        <p:spPr>
          <a:xfrm>
            <a:off x="5241425" y="5298927"/>
            <a:ext cx="4147547" cy="2553891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GB" dirty="0"/>
              <a:t>3. SELECT — Retrieve Data</a:t>
            </a:r>
          </a:p>
          <a:p>
            <a:pPr>
              <a:buNone/>
            </a:pPr>
            <a:r>
              <a:rPr lang="en-GB" dirty="0"/>
              <a:t>Used to insert records into the tables.</a:t>
            </a:r>
          </a:p>
          <a:p>
            <a:pPr>
              <a:buNone/>
            </a:pPr>
            <a:endParaRPr lang="en-GB" dirty="0"/>
          </a:p>
          <a:p>
            <a:pPr>
              <a:buNone/>
            </a:pPr>
            <a:r>
              <a:rPr lang="en-GB" dirty="0"/>
              <a:t>SELECT * FROM CUSTOMER;</a:t>
            </a:r>
          </a:p>
          <a:p>
            <a:pPr>
              <a:buNone/>
            </a:pPr>
            <a:endParaRPr lang="en-GB" dirty="0"/>
          </a:p>
          <a:p>
            <a:pPr>
              <a:buNone/>
            </a:pPr>
            <a:r>
              <a:rPr lang="en-GB" dirty="0"/>
              <a:t>SELECT * FROM PRODUCT;</a:t>
            </a:r>
          </a:p>
          <a:p>
            <a:pPr>
              <a:buNone/>
            </a:pPr>
            <a:endParaRPr lang="en-GB" dirty="0"/>
          </a:p>
          <a:p>
            <a:pPr>
              <a:buNone/>
            </a:pPr>
            <a:r>
              <a:rPr lang="en-GB" dirty="0"/>
              <a:t>SELECT * FROM ORDERS;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9C52DD-90B7-1A28-72F0-A6F423520172}"/>
              </a:ext>
            </a:extLst>
          </p:cNvPr>
          <p:cNvSpPr txBox="1"/>
          <p:nvPr/>
        </p:nvSpPr>
        <p:spPr>
          <a:xfrm>
            <a:off x="175882" y="5960511"/>
            <a:ext cx="4741591" cy="1940957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b="1" dirty="0"/>
              <a:t>4. WHERE — Filter Data</a:t>
            </a:r>
          </a:p>
          <a:p>
            <a:r>
              <a:rPr lang="en-GB" dirty="0"/>
              <a:t>Used to retrieve records matching a condition.</a:t>
            </a:r>
          </a:p>
          <a:p>
            <a:endParaRPr lang="en-GB" dirty="0"/>
          </a:p>
          <a:p>
            <a:pPr>
              <a:buNone/>
            </a:pPr>
            <a:r>
              <a:rPr lang="en-GB" dirty="0"/>
              <a:t>SELECT *</a:t>
            </a:r>
          </a:p>
          <a:p>
            <a:pPr>
              <a:buNone/>
            </a:pPr>
            <a:r>
              <a:rPr lang="en-GB" dirty="0"/>
              <a:t>FROM PRODUCT</a:t>
            </a:r>
          </a:p>
          <a:p>
            <a:pPr>
              <a:buNone/>
            </a:pPr>
            <a:r>
              <a:rPr lang="en-GB" dirty="0"/>
              <a:t>WHERE price &gt; 1000;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DE2E8A-B9A3-D67F-BF68-B0D442FE5899}"/>
              </a:ext>
            </a:extLst>
          </p:cNvPr>
          <p:cNvSpPr txBox="1"/>
          <p:nvPr/>
        </p:nvSpPr>
        <p:spPr>
          <a:xfrm>
            <a:off x="9712924" y="5298927"/>
            <a:ext cx="4147547" cy="2353126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b="1"/>
              <a:t>5. ORDER BY — Sort Data</a:t>
            </a:r>
          </a:p>
          <a:p>
            <a:r>
              <a:rPr lang="en-GB"/>
              <a:t>Used to arrange query results.</a:t>
            </a:r>
          </a:p>
          <a:p>
            <a:pPr>
              <a:buNone/>
            </a:pPr>
            <a:endParaRPr lang="en-GB"/>
          </a:p>
          <a:p>
            <a:pPr>
              <a:lnSpc>
                <a:spcPct val="150000"/>
              </a:lnSpc>
              <a:buNone/>
            </a:pPr>
            <a:r>
              <a:rPr lang="en-GB"/>
              <a:t>SELECT product_id, name, price</a:t>
            </a:r>
          </a:p>
          <a:p>
            <a:pPr>
              <a:lnSpc>
                <a:spcPct val="150000"/>
              </a:lnSpc>
              <a:buNone/>
            </a:pPr>
            <a:r>
              <a:rPr lang="en-GB"/>
              <a:t>FROM PRODUCT</a:t>
            </a:r>
          </a:p>
          <a:p>
            <a:pPr>
              <a:lnSpc>
                <a:spcPct val="150000"/>
              </a:lnSpc>
              <a:buNone/>
            </a:pPr>
            <a:r>
              <a:rPr lang="en-GB"/>
              <a:t>ORDER BY price DESC;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10EAB8-17C6-F4D7-AA8F-82FCDB75DADB}"/>
              </a:ext>
            </a:extLst>
          </p:cNvPr>
          <p:cNvSpPr txBox="1"/>
          <p:nvPr/>
        </p:nvSpPr>
        <p:spPr>
          <a:xfrm>
            <a:off x="10196829" y="1645616"/>
            <a:ext cx="4147547" cy="2353126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b="1" dirty="0"/>
              <a:t>6. UPDATE — Modify Data</a:t>
            </a:r>
          </a:p>
          <a:p>
            <a:r>
              <a:rPr lang="en-GB" dirty="0"/>
              <a:t>Used to update existing records.</a:t>
            </a:r>
          </a:p>
          <a:p>
            <a:pPr>
              <a:buNone/>
            </a:pPr>
            <a:endParaRPr lang="en-GB" dirty="0"/>
          </a:p>
          <a:p>
            <a:pPr>
              <a:lnSpc>
                <a:spcPct val="150000"/>
              </a:lnSpc>
              <a:buNone/>
            </a:pPr>
            <a:r>
              <a:rPr lang="en-GB" dirty="0"/>
              <a:t>UPDATE INVENTORY</a:t>
            </a:r>
          </a:p>
          <a:p>
            <a:pPr>
              <a:lnSpc>
                <a:spcPct val="150000"/>
              </a:lnSpc>
              <a:buNone/>
            </a:pPr>
            <a:r>
              <a:rPr lang="en-GB" dirty="0"/>
              <a:t>SET </a:t>
            </a:r>
            <a:r>
              <a:rPr lang="en-GB" dirty="0" err="1"/>
              <a:t>quantity_available</a:t>
            </a:r>
            <a:r>
              <a:rPr lang="en-GB" dirty="0"/>
              <a:t> = 50</a:t>
            </a:r>
          </a:p>
          <a:p>
            <a:pPr>
              <a:lnSpc>
                <a:spcPct val="150000"/>
              </a:lnSpc>
              <a:buNone/>
            </a:pPr>
            <a:r>
              <a:rPr lang="en-GB" dirty="0"/>
              <a:t>WHERE </a:t>
            </a:r>
            <a:r>
              <a:rPr lang="en-GB" dirty="0" err="1"/>
              <a:t>product_id</a:t>
            </a:r>
            <a:r>
              <a:rPr lang="en-GB" dirty="0"/>
              <a:t> = 1;</a:t>
            </a:r>
          </a:p>
        </p:txBody>
      </p:sp>
    </p:spTree>
    <p:extLst>
      <p:ext uri="{BB962C8B-B14F-4D97-AF65-F5344CB8AC3E}">
        <p14:creationId xmlns:p14="http://schemas.microsoft.com/office/powerpoint/2010/main" val="2828790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FCB9B-5498-E219-4500-FF46F1CB8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CCA45B-0DDD-7182-6D19-86231CB884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82" y="148545"/>
            <a:ext cx="1795366" cy="6668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A646AA1-4C28-23C3-E309-05C095FD20B8}"/>
              </a:ext>
            </a:extLst>
          </p:cNvPr>
          <p:cNvSpPr txBox="1"/>
          <p:nvPr/>
        </p:nvSpPr>
        <p:spPr>
          <a:xfrm>
            <a:off x="3260085" y="399896"/>
            <a:ext cx="914007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4800" dirty="0"/>
              <a:t>SQL Commands &amp; Data Operations</a:t>
            </a:r>
            <a:endParaRPr lang="en-US" sz="4800" b="1" dirty="0">
              <a:latin typeface="Lora"/>
              <a:ea typeface="Calibri"/>
              <a:cs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9A6200-34F4-9125-5727-C7B1E2D07D3C}"/>
              </a:ext>
            </a:extLst>
          </p:cNvPr>
          <p:cNvSpPr txBox="1"/>
          <p:nvPr/>
        </p:nvSpPr>
        <p:spPr>
          <a:xfrm>
            <a:off x="366382" y="2173843"/>
            <a:ext cx="4741591" cy="1634490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b="1" dirty="0"/>
              <a:t>7. DELETE — Remove Data</a:t>
            </a:r>
          </a:p>
          <a:p>
            <a:r>
              <a:rPr lang="en-GB" dirty="0"/>
              <a:t>Used to remove unwanted records..</a:t>
            </a:r>
          </a:p>
          <a:p>
            <a:endParaRPr lang="en-GB" dirty="0"/>
          </a:p>
          <a:p>
            <a:pPr>
              <a:buNone/>
            </a:pPr>
            <a:r>
              <a:rPr lang="en-GB" dirty="0"/>
              <a:t>DELETE FROM PAYMENT</a:t>
            </a:r>
          </a:p>
          <a:p>
            <a:pPr>
              <a:buNone/>
            </a:pPr>
            <a:r>
              <a:rPr lang="en-GB" dirty="0"/>
              <a:t>WHERE </a:t>
            </a:r>
            <a:r>
              <a:rPr lang="en-GB" dirty="0" err="1"/>
              <a:t>payment_status</a:t>
            </a:r>
            <a:r>
              <a:rPr lang="en-GB" dirty="0"/>
              <a:t> = 'FAILED';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DA356D-B2E6-8CA8-3049-2BC6EE4FC454}"/>
              </a:ext>
            </a:extLst>
          </p:cNvPr>
          <p:cNvSpPr txBox="1"/>
          <p:nvPr/>
        </p:nvSpPr>
        <p:spPr>
          <a:xfrm>
            <a:off x="366382" y="4114800"/>
            <a:ext cx="4741591" cy="1634490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b="1" dirty="0"/>
              <a:t>8. COMMIT — Save Changes</a:t>
            </a:r>
          </a:p>
          <a:p>
            <a:r>
              <a:rPr lang="en-GB" dirty="0"/>
              <a:t>Used to permanently save database modifications.</a:t>
            </a:r>
          </a:p>
          <a:p>
            <a:endParaRPr lang="en-GB" dirty="0"/>
          </a:p>
          <a:p>
            <a:pPr>
              <a:buNone/>
            </a:pPr>
            <a:r>
              <a:rPr lang="en-GB" dirty="0"/>
              <a:t>COMMIT;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D35E23-2BA8-0CBB-59B2-A663C205C6D1}"/>
              </a:ext>
            </a:extLst>
          </p:cNvPr>
          <p:cNvSpPr txBox="1"/>
          <p:nvPr/>
        </p:nvSpPr>
        <p:spPr>
          <a:xfrm>
            <a:off x="5459324" y="2154793"/>
            <a:ext cx="8447176" cy="715089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b="1" dirty="0"/>
              <a:t>Database Operations Flow</a:t>
            </a:r>
          </a:p>
          <a:p>
            <a:r>
              <a:rPr lang="en-GB" b="1" dirty="0"/>
              <a:t>CREATE → INSERT → SELECT → FILTER → SORT → UPDATE → DELETE → COMMIT</a:t>
            </a:r>
            <a:endParaRPr lang="en-GB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EF858E-C865-91EC-1D2C-2293BFA3A816}"/>
              </a:ext>
            </a:extLst>
          </p:cNvPr>
          <p:cNvSpPr txBox="1"/>
          <p:nvPr/>
        </p:nvSpPr>
        <p:spPr>
          <a:xfrm>
            <a:off x="5574897" y="3176866"/>
            <a:ext cx="7315200" cy="3166824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Other SQL Features Implemented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b="1" dirty="0"/>
              <a:t>Primary Keys</a:t>
            </a:r>
            <a:r>
              <a:rPr lang="en-GB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b="1" dirty="0"/>
              <a:t>Foreign Keys</a:t>
            </a:r>
            <a:r>
              <a:rPr lang="en-GB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b="1" dirty="0"/>
              <a:t>NOT NULL</a:t>
            </a:r>
            <a:r>
              <a:rPr lang="en-GB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b="1" dirty="0"/>
              <a:t>UNIQUE</a:t>
            </a:r>
            <a:r>
              <a:rPr lang="en-GB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b="1" dirty="0"/>
              <a:t>CHECK</a:t>
            </a:r>
            <a:r>
              <a:rPr lang="en-GB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b="1" dirty="0"/>
              <a:t>DEFAULT</a:t>
            </a:r>
            <a:r>
              <a:rPr lang="en-GB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b="1" dirty="0"/>
              <a:t>Indexes</a:t>
            </a:r>
            <a:r>
              <a:rPr lang="en-GB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b="1" dirty="0"/>
              <a:t>Generated </a:t>
            </a:r>
            <a:r>
              <a:rPr lang="en-GB" b="1" dirty="0">
                <a:latin typeface="Courier New" panose="02070309020205020404" pitchFamily="49" charset="0"/>
              </a:rPr>
              <a:t>SUBTOTAL</a:t>
            </a:r>
            <a:r>
              <a:rPr lang="en-GB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b="1" dirty="0"/>
              <a:t>Inventory Update Trigger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39534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7A951F-4961-566F-893B-B3FFA9C11CD4}"/>
              </a:ext>
            </a:extLst>
          </p:cNvPr>
          <p:cNvSpPr txBox="1"/>
          <p:nvPr/>
        </p:nvSpPr>
        <p:spPr>
          <a:xfrm>
            <a:off x="4482791" y="301084"/>
            <a:ext cx="4337824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5400" b="1" dirty="0">
                <a:latin typeface="Lora"/>
                <a:cs typeface="Times New Roman" panose="02020603050405020304" pitchFamily="18" charset="0"/>
              </a:rPr>
              <a:t>Conclusion</a:t>
            </a:r>
            <a:endParaRPr lang="en-IN" sz="5400" b="1" dirty="0">
              <a:latin typeface="Lora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C0F1BE-A7C5-E52C-B9F6-0F70F9A76065}"/>
              </a:ext>
            </a:extLst>
          </p:cNvPr>
          <p:cNvSpPr txBox="1"/>
          <p:nvPr/>
        </p:nvSpPr>
        <p:spPr>
          <a:xfrm>
            <a:off x="1176919" y="1617768"/>
            <a:ext cx="12649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dirty="0"/>
              <a:t>The </a:t>
            </a:r>
            <a:r>
              <a:rPr lang="en-GB" sz="2400" b="1" dirty="0"/>
              <a:t>E-Commerce Order Management System</a:t>
            </a:r>
            <a:r>
              <a:rPr lang="en-GB" sz="2400" dirty="0"/>
              <a:t> provides a structured relational database for managing the major activities of an e-commerce business. It organizes and connects important information related to </a:t>
            </a:r>
            <a:r>
              <a:rPr lang="en-GB" sz="2400" b="1" dirty="0"/>
              <a:t>customers, suppliers, product categories, products, inventory, orders, order items, and payments</a:t>
            </a:r>
            <a:r>
              <a:rPr lang="en-GB" sz="2400" dirty="0"/>
              <a:t>.</a:t>
            </a:r>
          </a:p>
          <a:p>
            <a:pPr>
              <a:buNone/>
            </a:pPr>
            <a:endParaRPr lang="en-GB" sz="2400" dirty="0"/>
          </a:p>
          <a:p>
            <a:pPr>
              <a:buNone/>
            </a:pPr>
            <a:r>
              <a:rPr lang="en-GB" sz="2400" dirty="0"/>
              <a:t> The system maintains clear relationships between these entities using </a:t>
            </a:r>
            <a:r>
              <a:rPr lang="en-GB" sz="2400" b="1" dirty="0"/>
              <a:t>primary keys and foreign keys</a:t>
            </a:r>
            <a:r>
              <a:rPr lang="en-GB" sz="2400" dirty="0"/>
              <a:t>, ensuring data consistency and integrity. It also supports essential database operations such as </a:t>
            </a:r>
            <a:r>
              <a:rPr lang="en-GB" sz="2400" b="1" dirty="0"/>
              <a:t>creating tables, inserting records, retrieving and filtering data, updating information, and managing transactions</a:t>
            </a:r>
            <a:r>
              <a:rPr lang="en-GB" sz="2400" dirty="0"/>
              <a:t>, providing a reliable foundation for efficient e-commerce data management.</a:t>
            </a:r>
          </a:p>
        </p:txBody>
      </p:sp>
    </p:spTree>
    <p:extLst>
      <p:ext uri="{BB962C8B-B14F-4D97-AF65-F5344CB8AC3E}">
        <p14:creationId xmlns:p14="http://schemas.microsoft.com/office/powerpoint/2010/main" val="936524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657</TotalTime>
  <Words>982</Words>
  <Application>Microsoft Office PowerPoint</Application>
  <PresentationFormat>Custom</PresentationFormat>
  <Paragraphs>181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Times New Roman</vt:lpstr>
      <vt:lpstr>Segoe UI</vt:lpstr>
      <vt:lpstr>Arial</vt:lpstr>
      <vt:lpstr>Lora</vt:lpstr>
      <vt:lpstr>Calibri</vt:lpstr>
      <vt:lpstr>Courier New</vt:lpstr>
      <vt:lpstr>Office Theme</vt:lpstr>
      <vt:lpstr>DMS CAPSTONE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 Siva Ramakrishna</dc:creator>
  <cp:lastModifiedBy>Malcom Mathela</cp:lastModifiedBy>
  <cp:revision>545</cp:revision>
  <dcterms:created xsi:type="dcterms:W3CDTF">2025-06-30T14:22:30Z</dcterms:created>
  <dcterms:modified xsi:type="dcterms:W3CDTF">2026-08-13T16:28:01Z</dcterms:modified>
</cp:coreProperties>
</file>